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d0d2de5-d84d-d15d-951a-76f20979bdfa}">
          <p14:sldIdLst>
            <p14:sldId id="256"/>
          </p14:sldIdLst>
        </p14:section>
        <p14:section name="Problem and AI" id="{db5b6cc5-572a-3f19-3489-9690a2a846b8}">
          <p14:sldIdLst>
            <p14:sldId id="257"/>
            <p14:sldId id="258"/>
          </p14:sldIdLst>
        </p14:section>
        <p14:section name="Symbolic engine" id="{eb6621f8-c897-8512-c043-84f840c16591}">
          <p14:sldIdLst>
            <p14:sldId id="259"/>
            <p14:sldId id="260"/>
            <p14:sldId id="261"/>
          </p14:sldIdLst>
        </p14:section>
        <p14:section name="AI Teacher" id="{a6067887-1ba7-981a-41eb-83b5119fb789}">
          <p14:sldIdLst>
            <p14:sldId id="262"/>
            <p14:sldId id="263"/>
            <p14:sldId id="264"/>
          </p14:sldIdLst>
        </p14:section>
        <p14:section name="Features and results" id="{a79baf82-54bb-cd7e-2ae9-557bf0e202d6}">
          <p14:sldIdLst>
            <p14:sldId id="265"/>
            <p14:sldId id="266"/>
            <p14:sldId id="267"/>
            <p14:sldId id="268"/>
            <p14:sldId id="269"/>
          </p14:sldIdLst>
        </p14:section>
        <p14:section name="Close" id="{657bbf20-90c7-1391-ffd2-b1a452c8318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idea: most Sudoku AI projects just solve the puzzle. Ours uses classical AI (constraint satisfaction) to TEACH, explaining every deduction the way a human tutor would, and we add a language model only as the voice, never as the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ways existing tools fail a learner. Solvers are black boxes, hint buttons spoil the answer, and LLM chatbots like ChatGPT frequently get Sudoku logic wrong. We want correctness from classical AI plus natural explanations.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KEY SLIDE for 'is this really AI or just an API?'. Answer: the AI is layers 1 and 2, which we implemented ourselves. That's classical, symbolic AI from our syllabus: CSP formulation, search, constraint propagation, heuristics, and a rule-based knowledge base. Layer 3 is optional. An LLM only rephrases facts the engine already proved, and our verifier rejects any reply that states a wrong digit. Without an API key, everything still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Formal model from src/board.py. Each cell is a variable, the domain is 1 to 9, and each row, column and box is an AllDifferent constraint. Each cell has 20 peers (8 in its row, 8 in its column, 4 more in its box). Be precise: generalised Sudoku is NP-complete; fixed 9x9 is a constant-size instance.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row. Likely questions: (1) Why does MRV help? It chooses the variable most likely to fail, cutting dead branches near the root. (2) Why is LCV often slower in Sudoku? Once MRV picks a cell it usually has 1-2 values left, so ordering them saves little but costs a scan of 20 peers. (3) FC vs AC-3: FC only checks arcs into the variable just assigned; AC-3 propagates until all arcs are consistent, so it prunes more but costs more per node. Our AC-3 revise only prunes against singleton neighbours, which is exact for binary not-equal constraints.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api/techniques/: each technique is a detector that returns a structured step (cause cells, eliminations, target, walkthrough). TechniqueEngine tries them in order of difficulty, like rule-based inference with rules ordered by priority. Elimination techniques (pairs, X-Wing) are chained forward until they unlock a placement. Same engine grades generated puzzles.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 flow: the browser calls FastAPI, which calls the coach modules, which all reuse the same two engines. The LLM box is dashed because it is optional: only the AI Teacher talks to it, and only to phrase explanations. About 8,000 lines: Python backend plus a vanilla JS frontend.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api/ai_teacher.py, endpoint POST /api/teacher/chat. Stress steps 3 and 5: information gating means the LLM literally never receives the answer during a plain hint, so it cannot spoil it. Verification means a hallucinated digit never reaches the learner. Step 6 means the demo works with no internet. The reply shows a label saying whether the LLM or the engine answered.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professor asks 'why not just use ChatGPT?': LLMs are not reliable at constraint reasoning. They state wrong placements confidently. Pure solvers are correct but cannot hold a conversation. Combining them is the neuro-symbolic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 a 4-question skill check that recommends a level and a 7-lesson beginner curriculum on a real board. Generator: build a random full grid with randomised backtracking, then dig. If our human-technique solver can still finish it, the puzzle has exactly one solution (every step is forced), and its difficulty is the hardest technique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output from our engine on the medium demo puzzle. The same deduction escalates; we never jump to a different cell. In the app the reasoning cells light up on the board at each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Run: python -m unittest discover -s tests -t .  and  python -m unittest discover -s sudoku_ai_coach/tests -t .  All 48 pass. The hallucination tests are in sudoku_ai_coach/tests/test_ai_teacher.py (test_hallucinated_llm_reply_is_rejected and test_hint_does_not_leak_answer).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the server beforehand: python -m uvicorn sudoku_ai_coach.api.app:app --port 8000 and open localhost:8000. Load the medium puzzle. Step 6 is the AI moment: show the source label under the reply (LLM, verified by CSP engine). If the Wi-Fi fails, the engine still answers, which is itself a good point to make.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honest about limits earns marks. The benchmark comparison is the classic CSP experiment; mention it as next step if you don't show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PREP
Q: Is this AI or just an API? A: The reasoning is classical AI we implemented: CSP model, backtracking search, forward checking, AC-3, MRV/LCV heuristics, and a rule base of 9 techniques. The LLM is optional and only rephrases; our verifier rejects any wrong digit it states. Without a key it still works.
Q: Which LLM? A: Any OpenAI-compatible API, configured in .env (model shown in the chat panel).
Q: How do you guarantee a unique solution? A: A puzzle our technique solver can finish has only forced steps, so exactly one solution; count_solutions double-checks.
Q: Why MRV? A: Fail-first: the most constrained cell prunes dead branches earliest.
Q: Why can LCV be slower? A: After MRV, cells have 1-2 values, so ordering gains little but costs a scan of 20 peers.
Q: Is AC-3 stronger than Norvig? A: No. Norvig adds Rule 2 (hidden single), which binary arc consistency can't infer.
Q: Is this machine learning? A: No training. It's symbolic, deterministic AI, which is exactly why every hint is explainable and verifiable.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8463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4846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7D2FE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Explainable Sudoku AI Coach  ·  CSE 311 Artificial Intelligence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Explainable Sudoku AI Coach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A neuro-symbolic AI teacher: a CSP engine that reasons, explains and checks itself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60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CSE 311 · Artificial Intelligence · Course Project</a:t>
            </a:r>
            <a:endParaRPr lang="en-US" sz="1300" dirty="0"/>
          </a:p>
        </p:txBody>
      </p:sp>
      <p:sp>
        <p:nvSpPr>
          <p:cNvPr id="5" name="cell- "/>
          <p:cNvSpPr/>
          <p:nvPr/>
        </p:nvSpPr>
        <p:spPr>
          <a:xfrm>
            <a:off x="5989320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89320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000" dirty="0"/>
          </a:p>
        </p:txBody>
      </p:sp>
      <p:sp>
        <p:nvSpPr>
          <p:cNvPr id="7" name="cell-8"/>
          <p:cNvSpPr/>
          <p:nvPr/>
        </p:nvSpPr>
        <p:spPr>
          <a:xfrm>
            <a:off x="6931152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31152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9" name="cell- "/>
          <p:cNvSpPr/>
          <p:nvPr/>
        </p:nvSpPr>
        <p:spPr>
          <a:xfrm>
            <a:off x="7872984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72984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000" dirty="0"/>
          </a:p>
        </p:txBody>
      </p:sp>
      <p:sp>
        <p:nvSpPr>
          <p:cNvPr id="11" name="cell- "/>
          <p:cNvSpPr/>
          <p:nvPr/>
        </p:nvSpPr>
        <p:spPr>
          <a:xfrm>
            <a:off x="5989320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89320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000" dirty="0"/>
          </a:p>
        </p:txBody>
      </p:sp>
      <p:sp>
        <p:nvSpPr>
          <p:cNvPr id="13" name="cell-7"/>
          <p:cNvSpPr/>
          <p:nvPr/>
        </p:nvSpPr>
        <p:spPr>
          <a:xfrm>
            <a:off x="6931152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31152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cell- "/>
          <p:cNvSpPr/>
          <p:nvPr/>
        </p:nvSpPr>
        <p:spPr>
          <a:xfrm>
            <a:off x="7872984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72984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000" dirty="0"/>
          </a:p>
        </p:txBody>
      </p:sp>
      <p:sp>
        <p:nvSpPr>
          <p:cNvPr id="17" name="cell-5"/>
          <p:cNvSpPr/>
          <p:nvPr/>
        </p:nvSpPr>
        <p:spPr>
          <a:xfrm>
            <a:off x="5989320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89320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9" name="cell-6"/>
          <p:cNvSpPr/>
          <p:nvPr/>
        </p:nvSpPr>
        <p:spPr>
          <a:xfrm>
            <a:off x="6931152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31152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1" name="cell- "/>
          <p:cNvSpPr/>
          <p:nvPr/>
        </p:nvSpPr>
        <p:spPr>
          <a:xfrm>
            <a:off x="7872984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72984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598932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C5 = 6 · Naked Single, explained step by step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Puzzle apps spoil, they don't teach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cell-1"/>
          <p:cNvSpPr/>
          <p:nvPr/>
        </p:nvSpPr>
        <p:spPr>
          <a:xfrm>
            <a:off x="731520" y="146304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Black-box solvers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Fill the grid in milliseconds, but never say why a digit belongs in a cell.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344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9" name="cell-2"/>
          <p:cNvSpPr/>
          <p:nvPr/>
        </p:nvSpPr>
        <p:spPr>
          <a:xfrm>
            <a:off x="3566160" y="146304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Canned hints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"Hint" just reveals the answer. The learner copies it and learns nothing.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344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4" name="cell-3"/>
          <p:cNvSpPr/>
          <p:nvPr/>
        </p:nvSpPr>
        <p:spPr>
          <a:xfrm>
            <a:off x="6400800" y="146304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chatbots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Sound fluent, but often state wrong Sudoku logic with full confidence.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31520" y="36576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</a:rPr>
              <a:t>Our goal: </a:t>
            </a:r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</a:rPr>
              <a:t>an AI teacher whose reasoning is provably correct AND that explains it at the learner's level.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Where is the AI? Three layers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5577840" cy="1024128"/>
          </a:xfrm>
          <a:prstGeom prst="roundRect">
            <a:avLst>
              <a:gd name="adj" fmla="val 714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cell-1"/>
          <p:cNvSpPr/>
          <p:nvPr/>
        </p:nvSpPr>
        <p:spPr>
          <a:xfrm>
            <a:off x="640080" y="14173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0759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and inference (CSP)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133502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Russell &amp; Norvig ch. 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6459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Backtracking, Forward Checking, AC-3, MRV, LCV and Norvig propagation solve and prove every answer.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2350008"/>
            <a:ext cx="5577840" cy="1024128"/>
          </a:xfrm>
          <a:prstGeom prst="roundRect">
            <a:avLst>
              <a:gd name="adj" fmla="val 714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0" name="cell-2"/>
          <p:cNvSpPr/>
          <p:nvPr/>
        </p:nvSpPr>
        <p:spPr>
          <a:xfrm>
            <a:off x="640080" y="257860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468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Knowledge-based reasoning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24963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Rule-based inference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8072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A rule base of 9 human techniques, applied simplest-first, produces explainable deductions.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57200" y="3511296"/>
            <a:ext cx="5577840" cy="1024128"/>
          </a:xfrm>
          <a:prstGeom prst="roundRect">
            <a:avLst>
              <a:gd name="adj" fmla="val 714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6" name="cell-3"/>
          <p:cNvSpPr/>
          <p:nvPr/>
        </p:nvSpPr>
        <p:spPr>
          <a:xfrm>
            <a:off x="640080" y="3739896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739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6301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Natural-language layer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251960" y="36576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Neuro-symbolic AI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396849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An optional LLM turns verified facts into a friendly lesson. Layer 1 checks every claim it makes.</a:t>
            </a:r>
            <a:endParaRPr lang="en-US" sz="1400" dirty="0"/>
          </a:p>
        </p:txBody>
      </p:sp>
      <p:sp>
        <p:nvSpPr>
          <p:cNvPr id="21" name="quote"/>
          <p:cNvSpPr/>
          <p:nvPr/>
        </p:nvSpPr>
        <p:spPr>
          <a:xfrm>
            <a:off x="6309360" y="1188720"/>
            <a:ext cx="2377440" cy="3346704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537960" y="1463040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LLM is only the voice. The reasoning is ours.”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315468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7D2FE"/>
                </a:solidFill>
              </a:rPr>
              <a:t>Unplug the API and the teacher still works: the CSP engine answers by itself.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Sudoku as a Constraint Satisfaction Problem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variables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cells A1 … I9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256032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56032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{1…9}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965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domain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240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per cell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466344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6344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965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constraints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240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AllDifferent units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676656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76656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1965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peers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240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per cell</a:t>
            </a:r>
            <a:endParaRPr lang="en-US" sz="1200" dirty="0"/>
          </a:p>
        </p:txBody>
      </p:sp>
      <p:sp>
        <p:nvSpPr>
          <p:cNvPr id="19" name="formula"/>
          <p:cNvSpPr/>
          <p:nvPr/>
        </p:nvSpPr>
        <p:spPr>
          <a:xfrm>
            <a:off x="457200" y="28346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31520" y="28346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D2FE"/>
                </a:solidFill>
              </a:rPr>
              <a:t>Domain of a cell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28346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D(X) = {1, …, 9}  −  { value(Y) : Y ∈ Peers(X) }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Model ⟨X, D, C⟩: </a:t>
            </a:r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X = 81 cells, D = {1..9}, C = 27 AllDifferent constraints (9 rows, 9 columns, 9 boxes). Generalised n²×n² Sudoku is NP-complete; propagation plus search solves 9×9 in milliseconds.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Search and inference we implemented</a:t>
            </a:r>
            <a:endParaRPr lang="en-US" sz="3000" dirty="0"/>
          </a:p>
        </p:txBody>
      </p:sp>
      <p:graphicFrame>
        <p:nvGraphicFramePr>
          <p:cNvPr id="6" name="algorithm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4572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Algorithm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Kind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Idea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Backtracking search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Search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Depth-first over assignments; undo on contradiction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Forward Checking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Inference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After X = v, drop v from X's 20 peers; fail early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AC-3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Inference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Keep every arc (Xi, Xj) consistent until stable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MRV + Degree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Variable order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Fewest candidates first (fail-first); ties by degree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LCV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Value order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Try the value that rules out fewest peer options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</a:rPr>
                        <a:t>Norvig solver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Propagation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Naked + hidden single rules, then MRV search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All in src/csp_solver.py and switchable: CSPSolver(propagation="fc" | "ac3" | "norvig", use_mrv, use_lcv). Norvig's solver is the ground truth for move checking and for the AI Teacher's verifier.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rule base of 9 human techniques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cell-1"/>
          <p:cNvSpPr/>
          <p:nvPr/>
        </p:nvSpPr>
        <p:spPr>
          <a:xfrm>
            <a:off x="68580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Beginner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Full House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Naked Single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Hidden Single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291840" y="118872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9" name="cell-2"/>
          <p:cNvSpPr/>
          <p:nvPr/>
        </p:nvSpPr>
        <p:spPr>
          <a:xfrm>
            <a:off x="352044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Intermediate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01168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Naked Pair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Hidden Pair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Pointing Pair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Box/Line Reduction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126480" y="118872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4" name="cell-3"/>
          <p:cNvSpPr/>
          <p:nvPr/>
        </p:nvSpPr>
        <p:spPr>
          <a:xfrm>
            <a:off x="635508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55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94944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01168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Naked Triple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</a:rPr>
              <a:t>X-Wing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Simplest rule first: </a:t>
            </a:r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the engine only uses a harder technique when the easier ones are stuck, so every hint matches the learner's level. Norvig's Rule 1 is the Naked Single and Rule 2 is the Hidden Single.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System architecture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3898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UI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Grid, hint ladder, chat panel (static/)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2880360" y="12801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017520" y="13898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server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25 REST endpoints (api/app.py)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303520" y="128016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440680" y="13898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Coach modules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737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AI Teacher · Hint Ladder · Move Checker · What-If · Puzzle Generator · Lessons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5303520" y="3108960"/>
            <a:ext cx="1600200" cy="128016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440680" y="3218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engine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56616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9 human techniques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7086600" y="3108960"/>
            <a:ext cx="1600200" cy="128016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223760" y="3218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CSP engine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56616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2FE"/>
                </a:solidFill>
              </a:rPr>
              <a:t>src/: FC, AC-3, MRV, LCV, Norvig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2880360" y="310896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017520" y="32186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API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35661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Optional. Explains only, never decides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377440" y="1828800"/>
            <a:ext cx="502920" cy="914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800600" y="1828800"/>
            <a:ext cx="502920" cy="914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099048" y="2377440"/>
            <a:ext cx="914" cy="73152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882128" y="2377440"/>
            <a:ext cx="914" cy="73152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3840480" y="2377440"/>
            <a:ext cx="1737360" cy="731520"/>
          </a:xfrm>
          <a:prstGeom prst="line">
            <a:avLst/>
          </a:prstGeom>
          <a:noFill/>
          <a:ln w="22225">
            <a:solidFill>
              <a:srgbClr val="7C3AED"/>
            </a:solidFill>
            <a:prstDash val="dash"/>
            <a:tailEnd type="triangle"/>
          </a:ln>
        </p:spPr>
      </p:sp>
      <p:sp>
        <p:nvSpPr>
          <p:cNvPr id="26" name="card"/>
          <p:cNvSpPr/>
          <p:nvPr/>
        </p:nvSpPr>
        <p:spPr>
          <a:xfrm>
            <a:off x="457200" y="310896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94360" y="32186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35661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Puzzle bank and generated pool (data/)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How the AI Teacher answers a question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cell-1"/>
          <p:cNvSpPr/>
          <p:nvPr/>
        </p:nvSpPr>
        <p:spPr>
          <a:xfrm>
            <a:off x="64008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Detect intent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Classify the message: hint, reveal, cell, technique, AI concept, or mistake.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68980" y="11887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9" name="cell-2"/>
          <p:cNvSpPr/>
          <p:nvPr/>
        </p:nvSpPr>
        <p:spPr>
          <a:xfrm>
            <a:off x="345186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518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622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Ground in the CSP engine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5186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Compute candidates, mistakes, the next deduction chain and the unique solution.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80760" y="11887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4" name="cell-3"/>
          <p:cNvSpPr/>
          <p:nvPr/>
        </p:nvSpPr>
        <p:spPr>
          <a:xfrm>
            <a:off x="626364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Gate information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The answer digit is withheld unless the learner explicitly asks for it.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8803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9" name="cell-4"/>
          <p:cNvSpPr/>
          <p:nvPr/>
        </p:nvSpPr>
        <p:spPr>
          <a:xfrm>
            <a:off x="640080" y="30632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063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Explain with the LLM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611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An OpenAI-compatible model phrases the verified facts as a short lesson.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3268980" y="28803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24" name="cell-5"/>
          <p:cNvSpPr/>
          <p:nvPr/>
        </p:nvSpPr>
        <p:spPr>
          <a:xfrm>
            <a:off x="3451860" y="30632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518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046220" y="3063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Verify every claim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51860" y="3611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Each "cell = digit" in the reply is checked against the solver's solution.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6080760" y="28803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29" name="cell-6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3063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Fall back safely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63640" y="3611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No key, a timeout, or a false claim: the engine answers by itself.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Why neuro-symbolic beats either half</a:t>
            </a:r>
            <a:endParaRPr lang="en-US" sz="3000" dirty="0"/>
          </a:p>
        </p:txBody>
      </p:sp>
      <p:graphicFrame>
        <p:nvGraphicFramePr>
          <p:cNvPr id="10" name="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Criterion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Pure solver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Pure LLM chatbot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Our AI Teacher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172A"/>
                          </a:solidFill>
                        </a:rPr>
                        <a:t>Logically correct moves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</a:rPr>
                        <a:t>Yes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E11D48"/>
                          </a:solidFill>
                        </a:rPr>
                        <a:t>Often wrong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D9488"/>
                          </a:solidFill>
                        </a:rPr>
                        <a:t>Yes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172A"/>
                          </a:solidFill>
                        </a:rPr>
                        <a:t>Explains like a human teacher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</a:rPr>
                        <a:t>Yes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D9488"/>
                          </a:solidFill>
                        </a:rPr>
                        <a:t>Yes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172A"/>
                          </a:solidFill>
                        </a:rPr>
                        <a:t>Answers free-form questions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</a:rPr>
                        <a:t>Yes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D9488"/>
                          </a:solidFill>
                        </a:rPr>
                        <a:t>Yes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172A"/>
                          </a:solidFill>
                        </a:rPr>
                        <a:t>Never spoils unless asked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E11D48"/>
                          </a:solidFill>
                        </a:rPr>
                        <a:t>n/a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D9488"/>
                          </a:solidFill>
                        </a:rPr>
                        <a:t>Yes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172A"/>
                          </a:solidFill>
                        </a:rPr>
                        <a:t>Works offline, no API needed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</a:rPr>
                        <a:t>Yes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D9488"/>
                          </a:solidFill>
                        </a:rPr>
                        <a:t>Yes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Symbolic AI gives correctness and explainability; the language model adds conversation.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coach can do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cell-H"/>
          <p:cNvSpPr/>
          <p:nvPr/>
        </p:nvSpPr>
        <p:spPr>
          <a:xfrm>
            <a:off x="685800" y="141732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17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Hint ladder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965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Nudge on where to look, then the technique, then the full reveal with a walkthrough.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709160" y="118872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9" name="cell-M"/>
          <p:cNvSpPr/>
          <p:nvPr/>
        </p:nvSpPr>
        <p:spPr>
          <a:xfrm>
            <a:off x="4937760" y="141732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417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checker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1965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Case A: rule conflict. Case B: legal but leads to a dead end. Case C: correct, with "why it works".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292608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4" name="cell-W"/>
          <p:cNvSpPr/>
          <p:nvPr/>
        </p:nvSpPr>
        <p:spPr>
          <a:xfrm>
            <a:off x="685800" y="315468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What-If sandbox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703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Runs propagation on a cloned board and shows the cascade, or the contradiction it hits.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709160" y="292608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9" name="cell-G"/>
          <p:cNvSpPr/>
          <p:nvPr/>
        </p:nvSpPr>
        <p:spPr>
          <a:xfrm>
            <a:off x="4937760" y="315468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Graded puzzle generator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3703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Removes clues while the technique engine can still solve it: a unique solution and a known difficulty.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One hint, three levels</a:t>
            </a:r>
            <a:endParaRPr lang="en-US" sz="3000" dirty="0"/>
          </a:p>
        </p:txBody>
      </p:sp>
      <p:sp>
        <p:nvSpPr>
          <p:cNvPr id="3" name="cell- "/>
          <p:cNvSpPr/>
          <p:nvPr/>
        </p:nvSpPr>
        <p:spPr>
          <a:xfrm>
            <a:off x="731520" y="1325880"/>
            <a:ext cx="822960" cy="82296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341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2600" dirty="0"/>
          </a:p>
        </p:txBody>
      </p:sp>
      <p:sp>
        <p:nvSpPr>
          <p:cNvPr id="5" name="cell-8"/>
          <p:cNvSpPr/>
          <p:nvPr/>
        </p:nvSpPr>
        <p:spPr>
          <a:xfrm>
            <a:off x="1618488" y="1325880"/>
            <a:ext cx="822960" cy="822960"/>
          </a:xfrm>
          <a:prstGeom prst="roundRect">
            <a:avLst>
              <a:gd name="adj" fmla="val 666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1848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7" name="cell- "/>
          <p:cNvSpPr/>
          <p:nvPr/>
        </p:nvSpPr>
        <p:spPr>
          <a:xfrm>
            <a:off x="2505456" y="1325880"/>
            <a:ext cx="822960" cy="82296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0545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341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2600" dirty="0"/>
          </a:p>
        </p:txBody>
      </p:sp>
      <p:sp>
        <p:nvSpPr>
          <p:cNvPr id="9" name="cell- "/>
          <p:cNvSpPr/>
          <p:nvPr/>
        </p:nvSpPr>
        <p:spPr>
          <a:xfrm>
            <a:off x="731520" y="2212848"/>
            <a:ext cx="822960" cy="82296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21284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341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2600" dirty="0"/>
          </a:p>
        </p:txBody>
      </p:sp>
      <p:sp>
        <p:nvSpPr>
          <p:cNvPr id="11" name="cell-7"/>
          <p:cNvSpPr/>
          <p:nvPr/>
        </p:nvSpPr>
        <p:spPr>
          <a:xfrm>
            <a:off x="1618488" y="2212848"/>
            <a:ext cx="822960" cy="822960"/>
          </a:xfrm>
          <a:prstGeom prst="roundRect">
            <a:avLst>
              <a:gd name="adj" fmla="val 666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18488" y="221284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13" name="cell- "/>
          <p:cNvSpPr/>
          <p:nvPr/>
        </p:nvSpPr>
        <p:spPr>
          <a:xfrm>
            <a:off x="2505456" y="2212848"/>
            <a:ext cx="822960" cy="82296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505456" y="221284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341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2600" dirty="0"/>
          </a:p>
        </p:txBody>
      </p:sp>
      <p:sp>
        <p:nvSpPr>
          <p:cNvPr id="15" name="cell-5"/>
          <p:cNvSpPr/>
          <p:nvPr/>
        </p:nvSpPr>
        <p:spPr>
          <a:xfrm>
            <a:off x="731520" y="3099816"/>
            <a:ext cx="822960" cy="822960"/>
          </a:xfrm>
          <a:prstGeom prst="roundRect">
            <a:avLst>
              <a:gd name="adj" fmla="val 666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09981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cell-C5"/>
          <p:cNvSpPr/>
          <p:nvPr/>
        </p:nvSpPr>
        <p:spPr>
          <a:xfrm>
            <a:off x="1618488" y="3099816"/>
            <a:ext cx="822960" cy="822960"/>
          </a:xfrm>
          <a:prstGeom prst="roundRect">
            <a:avLst>
              <a:gd name="adj" fmla="val 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18488" y="309981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C5</a:t>
            </a:r>
            <a:endParaRPr lang="en-US" sz="1800" dirty="0"/>
          </a:p>
        </p:txBody>
      </p:sp>
      <p:sp>
        <p:nvSpPr>
          <p:cNvPr id="19" name="cell- "/>
          <p:cNvSpPr/>
          <p:nvPr/>
        </p:nvSpPr>
        <p:spPr>
          <a:xfrm>
            <a:off x="2505456" y="3099816"/>
            <a:ext cx="822960" cy="82296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5456" y="309981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341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069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Box 2 of the demo puzzle. Teal is the target, amber the reasoning cells.</a:t>
            </a:r>
            <a:endParaRPr lang="en-US" sz="1200" dirty="0"/>
          </a:p>
        </p:txBody>
      </p:sp>
      <p:sp>
        <p:nvSpPr>
          <p:cNvPr id="22" name="user-bubble"/>
          <p:cNvSpPr/>
          <p:nvPr/>
        </p:nvSpPr>
        <p:spPr>
          <a:xfrm>
            <a:off x="6949440" y="118872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4944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Give me a hint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3749040" y="1572768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3931920" y="16184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Stage 1 · Nudge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18470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Focus on cell C5 and look at its neighbours in Box 2.</a:t>
            </a:r>
            <a:endParaRPr lang="en-US" sz="1400" dirty="0"/>
          </a:p>
        </p:txBody>
      </p:sp>
      <p:sp>
        <p:nvSpPr>
          <p:cNvPr id="27" name="user-bubble"/>
          <p:cNvSpPr/>
          <p:nvPr/>
        </p:nvSpPr>
        <p:spPr>
          <a:xfrm>
            <a:off x="6949440" y="233172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49440" y="2331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Why?</a:t>
            </a:r>
            <a:endParaRPr lang="en-US" sz="1200" dirty="0"/>
          </a:p>
        </p:txBody>
      </p:sp>
      <p:sp>
        <p:nvSpPr>
          <p:cNvPr id="29" name="card"/>
          <p:cNvSpPr/>
          <p:nvPr/>
        </p:nvSpPr>
        <p:spPr>
          <a:xfrm>
            <a:off x="3749040" y="2715768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931920" y="27614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Stage 2 · Technique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931920" y="29900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Naked Single: C5 already sees the other 8 digits.</a:t>
            </a:r>
            <a:endParaRPr lang="en-US" sz="1400" dirty="0"/>
          </a:p>
        </p:txBody>
      </p:sp>
      <p:sp>
        <p:nvSpPr>
          <p:cNvPr id="32" name="user-bubble"/>
          <p:cNvSpPr/>
          <p:nvPr/>
        </p:nvSpPr>
        <p:spPr>
          <a:xfrm>
            <a:off x="6949440" y="347472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49440" y="3474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Just tell me</a:t>
            </a:r>
            <a:endParaRPr lang="en-US" sz="1200" dirty="0"/>
          </a:p>
        </p:txBody>
      </p:sp>
      <p:sp>
        <p:nvSpPr>
          <p:cNvPr id="34" name="card"/>
          <p:cNvSpPr/>
          <p:nvPr/>
        </p:nvSpPr>
        <p:spPr>
          <a:xfrm>
            <a:off x="3749040" y="3858768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3931920" y="39044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Stage 3 · Reveal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31920" y="41330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C5 = 6. Every other digit is already seen by C5, so it must be 6.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Tested, not just claimed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automated tests passing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500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solver, rules, API, AI Teacher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329184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291840" y="12801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human techniques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500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Full House to X-Wing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612648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126480" y="12801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REST endpoints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3500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FastAPI backend</a:t>
            </a:r>
            <a:endParaRPr lang="en-US" sz="1200" dirty="0"/>
          </a:p>
        </p:txBody>
      </p:sp>
      <p:sp>
        <p:nvSpPr>
          <p:cNvPr id="15" name="hallucination-test"/>
          <p:cNvSpPr/>
          <p:nvPr/>
        </p:nvSpPr>
        <p:spPr>
          <a:xfrm>
            <a:off x="457200" y="306324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16" name="cell-!"/>
          <p:cNvSpPr/>
          <p:nvPr/>
        </p:nvSpPr>
        <p:spPr>
          <a:xfrm>
            <a:off x="731520" y="333756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Hallucination test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6118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7D2FE"/>
                </a:solidFill>
              </a:rPr>
              <a:t>We feed the AI Teacher a fake LLM that answers with a wrong digit for A3. The verifier catches the false claim, rejects the reply, and the CSP engine answers instead. A second test proves the answer is never sent to the LLM for a plain hint.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Live demo plan</a:t>
            </a:r>
            <a:endParaRPr lang="en-US" sz="3000" dirty="0"/>
          </a:p>
        </p:txBody>
      </p:sp>
      <p:sp>
        <p:nvSpPr>
          <p:cNvPr id="3" name="cell-1"/>
          <p:cNvSpPr/>
          <p:nvPr/>
        </p:nvSpPr>
        <p:spPr>
          <a:xfrm>
            <a:off x="457200" y="11887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207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Pick a level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996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or take the skill check</a:t>
            </a:r>
            <a:endParaRPr lang="en-US" sz="1300" dirty="0"/>
          </a:p>
        </p:txBody>
      </p:sp>
      <p:sp>
        <p:nvSpPr>
          <p:cNvPr id="7" name="cell-2"/>
          <p:cNvSpPr/>
          <p:nvPr/>
        </p:nvSpPr>
        <p:spPr>
          <a:xfrm>
            <a:off x="457200" y="2039112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39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0574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Ask for a hint three times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350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nudge, technique, reveal</a:t>
            </a:r>
            <a:endParaRPr lang="en-US" sz="1300" dirty="0"/>
          </a:p>
        </p:txBody>
      </p:sp>
      <p:sp>
        <p:nvSpPr>
          <p:cNvPr id="11" name="cell-3"/>
          <p:cNvSpPr/>
          <p:nvPr/>
        </p:nvSpPr>
        <p:spPr>
          <a:xfrm>
            <a:off x="457200" y="2889504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8895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907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Place a clashing digit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00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Case A rule conflict</a:t>
            </a:r>
            <a:endParaRPr lang="en-US" sz="1300" dirty="0"/>
          </a:p>
        </p:txBody>
      </p:sp>
      <p:sp>
        <p:nvSpPr>
          <p:cNvPr id="15" name="cell-4"/>
          <p:cNvSpPr/>
          <p:nvPr/>
        </p:nvSpPr>
        <p:spPr>
          <a:xfrm>
            <a:off x="457200" y="3739896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39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581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Place a legal but wrong digit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050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Case B gentle dead end</a:t>
            </a:r>
            <a:endParaRPr lang="en-US" sz="1300" dirty="0"/>
          </a:p>
        </p:txBody>
      </p:sp>
      <p:sp>
        <p:nvSpPr>
          <p:cNvPr id="19" name="cell-5"/>
          <p:cNvSpPr/>
          <p:nvPr/>
        </p:nvSpPr>
        <p:spPr>
          <a:xfrm>
            <a:off x="4709160" y="118872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1188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1207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Run What-If on a bad value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4996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cascade ends in a contradiction</a:t>
            </a:r>
            <a:endParaRPr lang="en-US" sz="1300" dirty="0"/>
          </a:p>
        </p:txBody>
      </p:sp>
      <p:sp>
        <p:nvSpPr>
          <p:cNvPr id="23" name="cell-6"/>
          <p:cNvSpPr/>
          <p:nvPr/>
        </p:nvSpPr>
        <p:spPr>
          <a:xfrm>
            <a:off x="4709160" y="2039112"/>
            <a:ext cx="566928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09160" y="2039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40680" y="20574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Ask the AI Teacher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350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"what can D7 be?", "how do you work?"</a:t>
            </a:r>
            <a:endParaRPr lang="en-US" sz="1300" dirty="0"/>
          </a:p>
        </p:txBody>
      </p:sp>
      <p:sp>
        <p:nvSpPr>
          <p:cNvPr id="27" name="cell-7"/>
          <p:cNvSpPr/>
          <p:nvPr/>
        </p:nvSpPr>
        <p:spPr>
          <a:xfrm>
            <a:off x="4709160" y="2889504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09160" y="28895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440680" y="2907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Generate an advanced puzzle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200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graded by required technique</a:t>
            </a:r>
            <a:endParaRPr lang="en-US" sz="1300" dirty="0"/>
          </a:p>
        </p:txBody>
      </p:sp>
      <p:sp>
        <p:nvSpPr>
          <p:cNvPr id="31" name="cell-8"/>
          <p:cNvSpPr/>
          <p:nvPr/>
        </p:nvSpPr>
        <p:spPr>
          <a:xfrm>
            <a:off x="4709160" y="3739896"/>
            <a:ext cx="566928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09160" y="3739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5440680" y="37581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Press Solve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4050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Norvig CSP solver finishes it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Limitations and future work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977640" cy="3108960"/>
          </a:xfrm>
          <a:prstGeom prst="roundRect">
            <a:avLst>
              <a:gd name="adj" fmla="val 235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4" name="cell-L"/>
          <p:cNvSpPr/>
          <p:nvPr/>
        </p:nvSpPr>
        <p:spPr>
          <a:xfrm>
            <a:off x="68580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71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No chain techniques yet (e.g. Swordfish), so the hardest puzzles need What-If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Verifier checks placement claims, not every candidate claim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Intent detection is keyword-based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One shared in-memory board (single user)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709160" y="1188720"/>
            <a:ext cx="3977640" cy="3108960"/>
          </a:xfrm>
          <a:prstGeom prst="roundRect">
            <a:avLst>
              <a:gd name="adj" fmla="val 235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  <a:effectLst>
            <a:outerShdw sx="100000" sy="100000" kx="0" ky="0" algn="bl" rotWithShape="0" blurRad="76200" dist="19050" dir="5400000">
              <a:srgbClr val="0F172A">
                <a:alpha val="12000"/>
              </a:srgbClr>
            </a:outerShdw>
          </a:effectLst>
        </p:spPr>
      </p:sp>
      <p:sp>
        <p:nvSpPr>
          <p:cNvPr id="9" name="cell-N"/>
          <p:cNvSpPr/>
          <p:nvPr/>
        </p:nvSpPr>
        <p:spPr>
          <a:xfrm>
            <a:off x="493776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371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20116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Add chain techniques and proof trees for guesses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Learner model that adapts the level from mistakes and hint use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Benchmark FC vs AC-3 vs MRV vs Norvig on 1,000+ puzzles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Persist sessions (SQLite) for multiple users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Thank you. Questions?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A CSP engine that reasons, explains and checks itself, with a language model only as its voice.</a:t>
            </a:r>
            <a:endParaRPr lang="en-US" sz="1700" dirty="0"/>
          </a:p>
        </p:txBody>
      </p:sp>
      <p:sp>
        <p:nvSpPr>
          <p:cNvPr id="4" name="cell-X"/>
          <p:cNvSpPr/>
          <p:nvPr/>
        </p:nvSpPr>
        <p:spPr>
          <a:xfrm>
            <a:off x="5989320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89320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000" dirty="0"/>
          </a:p>
        </p:txBody>
      </p:sp>
      <p:sp>
        <p:nvSpPr>
          <p:cNvPr id="6" name="cell-D"/>
          <p:cNvSpPr/>
          <p:nvPr/>
        </p:nvSpPr>
        <p:spPr>
          <a:xfrm>
            <a:off x="6931152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31152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000" dirty="0"/>
          </a:p>
        </p:txBody>
      </p:sp>
      <p:sp>
        <p:nvSpPr>
          <p:cNvPr id="8" name="cell-C"/>
          <p:cNvSpPr/>
          <p:nvPr/>
        </p:nvSpPr>
        <p:spPr>
          <a:xfrm>
            <a:off x="7872984" y="1143000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72984" y="1143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10" name="cell-FC"/>
          <p:cNvSpPr/>
          <p:nvPr/>
        </p:nvSpPr>
        <p:spPr>
          <a:xfrm>
            <a:off x="5989320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</a:t>
            </a:r>
            <a:endParaRPr lang="en-US" sz="2000" dirty="0"/>
          </a:p>
        </p:txBody>
      </p:sp>
      <p:sp>
        <p:nvSpPr>
          <p:cNvPr id="12" name="cell-AC3"/>
          <p:cNvSpPr/>
          <p:nvPr/>
        </p:nvSpPr>
        <p:spPr>
          <a:xfrm>
            <a:off x="6931152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31152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AC3</a:t>
            </a:r>
            <a:endParaRPr lang="en-US" sz="2000" dirty="0"/>
          </a:p>
        </p:txBody>
      </p:sp>
      <p:sp>
        <p:nvSpPr>
          <p:cNvPr id="14" name="cell-MRV"/>
          <p:cNvSpPr/>
          <p:nvPr/>
        </p:nvSpPr>
        <p:spPr>
          <a:xfrm>
            <a:off x="7872984" y="2084832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72984" y="208483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MRV</a:t>
            </a:r>
            <a:endParaRPr lang="en-US" sz="2000" dirty="0"/>
          </a:p>
        </p:txBody>
      </p:sp>
      <p:sp>
        <p:nvSpPr>
          <p:cNvPr id="16" name="cell-LCV"/>
          <p:cNvSpPr/>
          <p:nvPr/>
        </p:nvSpPr>
        <p:spPr>
          <a:xfrm>
            <a:off x="5989320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89320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LCV</a:t>
            </a:r>
            <a:endParaRPr lang="en-US" sz="2000" dirty="0"/>
          </a:p>
        </p:txBody>
      </p:sp>
      <p:sp>
        <p:nvSpPr>
          <p:cNvPr id="18" name="cell-AI"/>
          <p:cNvSpPr/>
          <p:nvPr/>
        </p:nvSpPr>
        <p:spPr>
          <a:xfrm>
            <a:off x="6931152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31152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2000" dirty="0"/>
          </a:p>
        </p:txBody>
      </p:sp>
      <p:sp>
        <p:nvSpPr>
          <p:cNvPr id="20" name="cell-✓"/>
          <p:cNvSpPr/>
          <p:nvPr/>
        </p:nvSpPr>
        <p:spPr>
          <a:xfrm>
            <a:off x="7872984" y="3026664"/>
            <a:ext cx="868680" cy="868680"/>
          </a:xfrm>
          <a:prstGeom prst="roundRect">
            <a:avLst>
              <a:gd name="adj" fmla="val 631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72984" y="30266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id and Ink">
  <a:themeElements>
    <a:clrScheme name="Grid and Ink">
      <a:dk1>
        <a:srgbClr val="0F172A"/>
      </a:dk1>
      <a:lt1>
        <a:srgbClr val="FFFFFF"/>
      </a:lt1>
      <a:dk2>
        <a:srgbClr val="334155"/>
      </a:dk2>
      <a:lt2>
        <a:srgbClr val="EEF2F7"/>
      </a:lt2>
      <a:accent1>
        <a:srgbClr val="0D9488"/>
      </a:accent1>
      <a:accent2>
        <a:srgbClr val="D97706"/>
      </a:accent2>
      <a:accent3>
        <a:srgbClr val="7C3AED"/>
      </a:accent3>
      <a:accent4>
        <a:srgbClr val="E11D48"/>
      </a:accent4>
      <a:accent5>
        <a:srgbClr val="2563EB"/>
      </a:accent5>
      <a:accent6>
        <a:srgbClr val="059669"/>
      </a:accent6>
      <a:hlink>
        <a:srgbClr val="0D9488"/>
      </a:hlink>
      <a:folHlink>
        <a:srgbClr val="7C3AED"/>
      </a:folHlink>
    </a:clrScheme>
    <a:fontScheme name="Grid and In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Explainable Sudoku AI Coach</dc:title>
  <dc:subject>CSE 311 Artificial Intelligence course project</dc:subject>
  <dc:creator>PptxGenJS</dc:creator>
  <cp:lastModifiedBy>PptxGenJS</cp:lastModifiedBy>
  <cp:revision>1</cp:revision>
  <dcterms:created xsi:type="dcterms:W3CDTF">2026-10-15T05:51:50Z</dcterms:created>
  <dcterms:modified xsi:type="dcterms:W3CDTF">2026-10-15T05:51:50Z</dcterms:modified>
</cp:coreProperties>
</file>