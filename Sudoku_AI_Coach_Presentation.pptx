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22"/>
    <p:sldId id="257" r:id="rId3"/>
    <p:sldId id="265" r:id="rId11"/>
    <p:sldId id="259" r:id="rId5"/>
    <p:sldId id="260" r:id="rId6"/>
    <p:sldId id="261" r:id="rId7"/>
    <p:sldId id="262" r:id="rId8"/>
    <p:sldId id="263" r:id="rId9"/>
    <p:sldId id="267" r:id="rId13"/>
    <p:sldId id="268" r:id="rId14"/>
    <p:sldId id="272" r:id="rId23"/>
    <p:sldId id="269" r:id="rId15"/>
    <p:sldId id="273" r:id="rId24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d0d2de5-d84d-d15d-951a-76f20979bdfa}">
          <p14:sldIdLst>
            <p14:sldId id="256"/>
          </p14:sldIdLst>
        </p14:section>
        <p14:section name="Problem and AI" id="{db5b6cc5-572a-3f19-3489-9690a2a846b8}">
          <p14:sldIdLst>
            <p14:sldId id="257"/>
            <p14:sldId id="258"/>
          </p14:sldIdLst>
        </p14:section>
        <p14:section name="Symbolic engine" id="{eb6621f8-c897-8512-c043-84f840c16591}">
          <p14:sldIdLst>
            <p14:sldId id="259"/>
            <p14:sldId id="260"/>
            <p14:sldId id="261"/>
          </p14:sldIdLst>
        </p14:section>
        <p14:section name="AI Teacher" id="{a6067887-1ba7-981a-41eb-83b5119fb789}">
          <p14:sldIdLst>
            <p14:sldId id="262"/>
            <p14:sldId id="263"/>
            <p14:sldId id="264"/>
          </p14:sldIdLst>
        </p14:section>
        <p14:section name="Features and results" id="{a79baf82-54bb-cd7e-2ae9-557bf0e202d6}">
          <p14:sldIdLst>
            <p14:sldId id="265"/>
            <p14:sldId id="266"/>
            <p14:sldId id="267"/>
            <p14:sldId id="268"/>
            <p14:sldId id="269"/>
          </p14:sldIdLst>
        </p14:section>
        <p14:section name="Close" id="{657bbf20-90c7-1391-ffd2-b1a452c8318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most Sudoku AI projects just solve the puzzle. Ours uses classical AI (constraint satisfaction) to TEACH, explaining every deduction the way a human tutor would, and we add a language model only as the voice, never as the 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ways existing tools fail a learner. Solvers are black boxes, hint buttons spoil the answer, and LLM chatbots like ChatGPT frequently get Sudoku logic wrong. We want correctness from classical AI plus natural explanations.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model from src/board.py. Each cell is a variable, the domain is 1 to 9, and each row, column and box is an AllDifferent constraint. Each cell has 20 peers (8 in its row, 8 in its column, 4 more in its box). Be precise: generalised Sudoku is NP-complete; fixed 9x9 is a constant-size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row. Likely questions: (1) Why does MRV help? It chooses the variable most likely to fail, cutting dead branches near the root. (2) Why is LCV often slower in Sudoku? Once MRV picks a cell it usually has 1-2 values left, so ordering them saves little but costs a scan of 20 peers. (3) FC vs AC-3: FC only checks arcs into the variable just assigned; AC-3 propagates until all arcs are consistent, so it prunes more but costs more per node. Our AC-3 revise only prunes against singleton neighbours, which is exact for binary not-equal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api/techniques/: each technique is a detector that returns a structured step (cause cells, eliminations, target, walkthrough). TechniqueEngine tries them in order of difficulty, like rule-based inference with rules ordered by priority. Elimination techniques (pairs, X-Wing) are chained forward until they unlock a placement. Same engine grades generated puzzles.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flow: the browser calls FastAPI, which calls the coach modules, which all reuse the same two engines. The LLM box is dashed because it is optional: only the AI Teacher talks to it, and only to phrase explanations. About 8,000 lines: Python backend plus a vanilla JS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api/ai_teacher.py, endpoint POST /api/teacher/chat. Stress steps 3 and 5: information gating means the LLM literally never receives the answer during a plain hint, so it cannot spoil it. Verification means a hallucinated digit never reaches the learner. Step 6 means the demo works with no internet. The reply shows a label saying whether the LLM or the engine answered.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a 4-question skill check that recommends a level and a 7-lesson beginner curriculum on a real board. Generator: build a random full grid with randomised backtracking, then dig. If our human-technique solver can still finish it, the puzzle has exactly one solution (every step is forced), and its difficulty is the hardest technique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python -m unittest discover -s tests -t .  and  python -m unittest discover -s sudoku_ai_coach/tests -t .  All 48 pass. The hallucination tests are in sudoku_ai_coach/tests/test_ai_teacher.py (test_hallucinated_llm_reply_is_rejected and test_hint_does_not_leak_answer).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the server beforehand: python -m uvicorn sudoku_ai_coach.api.app:app --port 8000 and open localhost:8000. Load the medium puzzle. Step 6 is the AI moment: show the source label under the reply (LLM, verified by CSP engine). If the Wi-Fi fails, the engine still answers, which is itself a good point to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honest about limits earns marks. The benchmark comparison is the classic CSP experiment; mention it as next step if you don't show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PREP
Q: Is this AI or just an API? A: The reasoning is classical AI we implemented: CSP model, backtracking search, forward checking, AC-3, MRV/LCV heuristics, and a rule base of 9 techniques. The LLM is optional and only rephrases; our verifier rejects any wrong digit it states. Without a key it still works.
Q: Which LLM? A: Any OpenAI-compatible API, configured in .env (model shown in the chat panel).
Q: How do you guarantee a unique solution? A: A puzzle our technique solver can finish has only forced steps, so exactly one solution; count_solutions double-checks.
Q: Why MRV? A: Fail-first: the most constrained cell prunes dead branches earliest.
Q: Why can LCV be slower? A: After MRV, cells have 1-2 values, so ordering gains little but costs a scan of 20 peers.
Q: Is AC-3 stronger than Norvig? A: No. Norvig adds Rule 2 (hidden single), which binary arc consistency can't infer.
Q: Is this machine learning? A: No training. It's symbolic, deterministic AI, which is exactly why every hint is explainable and verifiable.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8463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846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7D2FE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Explainable Sudoku AI Coach  ·  CSE 311 Artificial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Explainable Sudoku AI Coach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7D2FE"/>
                </a:solidFill>
              </a:rPr>
              <a:t>A neuro-symbolic AI teacher: a CSP engine that reasons, explains and checks itself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CSE 311 · Artificial Intelligence · Course Project</a:t>
            </a:r>
            <a:endParaRPr lang="en-US" sz="1300" dirty="0"/>
          </a:p>
        </p:txBody>
      </p:sp>
      <p:sp>
        <p:nvSpPr>
          <p:cNvPr id="5" name="cell- "/>
          <p:cNvSpPr/>
          <p:nvPr/>
        </p:nvSpPr>
        <p:spPr>
          <a:xfrm>
            <a:off x="5989320" y="114300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7" name="cell-8"/>
          <p:cNvSpPr/>
          <p:nvPr/>
        </p:nvSpPr>
        <p:spPr>
          <a:xfrm>
            <a:off x="6931152" y="114300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31152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cell- "/>
          <p:cNvSpPr/>
          <p:nvPr/>
        </p:nvSpPr>
        <p:spPr>
          <a:xfrm>
            <a:off x="7872984" y="114300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72984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11" name="cell- "/>
          <p:cNvSpPr/>
          <p:nvPr/>
        </p:nvSpPr>
        <p:spPr>
          <a:xfrm>
            <a:off x="5989320" y="2084832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2084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13" name="cell-7"/>
          <p:cNvSpPr/>
          <p:nvPr/>
        </p:nvSpPr>
        <p:spPr>
          <a:xfrm>
            <a:off x="6931152" y="2084832"/>
            <a:ext cx="868680" cy="868680"/>
          </a:xfrm>
          <a:prstGeom prst="roundRect">
            <a:avLst>
              <a:gd name="adj" fmla="val 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31152" y="2084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cell- "/>
          <p:cNvSpPr/>
          <p:nvPr/>
        </p:nvSpPr>
        <p:spPr>
          <a:xfrm>
            <a:off x="7872984" y="2084832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72984" y="2084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17" name="cell-5"/>
          <p:cNvSpPr/>
          <p:nvPr/>
        </p:nvSpPr>
        <p:spPr>
          <a:xfrm>
            <a:off x="5989320" y="3026664"/>
            <a:ext cx="868680" cy="868680"/>
          </a:xfrm>
          <a:prstGeom prst="roundRect">
            <a:avLst>
              <a:gd name="adj" fmla="val 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9320" y="302666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cell-6"/>
          <p:cNvSpPr/>
          <p:nvPr/>
        </p:nvSpPr>
        <p:spPr>
          <a:xfrm>
            <a:off x="6931152" y="3026664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31152" y="302666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cell- "/>
          <p:cNvSpPr/>
          <p:nvPr/>
        </p:nvSpPr>
        <p:spPr>
          <a:xfrm>
            <a:off x="7872984" y="3026664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72984" y="302666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C5 = 6 · Naked Single, explained step by step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BD5E1"/>
                </a:solidFill>
              </a:rPr>
              <a:t>Sathwik Teja  ·  Sawan Rana  ·  Sunil  ·  Rishikesh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</a:rPr>
              <a:t>Presenter: Sathwik Teja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Introduction: the problem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4" name="cell-1"/>
          <p:cNvSpPr/>
          <p:nvPr/>
        </p:nvSpPr>
        <p:spPr>
          <a:xfrm>
            <a:off x="731520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solvers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Fill the grid in milliseconds, but never say why a digit belongs in a cell.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9" name="cell-2"/>
          <p:cNvSpPr/>
          <p:nvPr/>
        </p:nvSpPr>
        <p:spPr>
          <a:xfrm>
            <a:off x="3566160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Canned hints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"Hint" just reveals the answer. The learner copies it and learns nothing.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2648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4" name="cell-3"/>
          <p:cNvSpPr/>
          <p:nvPr/>
        </p:nvSpPr>
        <p:spPr>
          <a:xfrm>
            <a:off x="6400800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chatbots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Sound fluent, but often state wrong Sudoku logic with full confidence.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3657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</a:rPr>
              <a:t>Our goal: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an AI teacher whose reasoning is provably correct AND that explains it at the learner's level.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Presenter: Rishikesh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Sudoku as a Constraint Satisfaction Problem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variables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cells A1 … I9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256032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60320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{1…9}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domain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per cell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66344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63440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constraints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AllDifferent units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76656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66560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peers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per cell</a:t>
            </a:r>
            <a:endParaRPr lang="en-US" sz="1200" dirty="0"/>
          </a:p>
        </p:txBody>
      </p:sp>
      <p:sp>
        <p:nvSpPr>
          <p:cNvPr id="19" name="formula"/>
          <p:cNvSpPr/>
          <p:nvPr/>
        </p:nvSpPr>
        <p:spPr>
          <a:xfrm>
            <a:off x="457200" y="2834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1520" y="2834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2FE"/>
                </a:solidFill>
              </a:rPr>
              <a:t>Domain of a cell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28346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D(X) = {1, …, 9}  −  { value(Y) : Y ∈ Peers(X) }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Model ⟨X, D, C⟩: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81 cells, digits 1–9, 27 AllDifferent constraints.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</a:rPr>
              <a:t>Presenter: Sawan Rana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Search and inference we implemented</a:t>
            </a:r>
            <a:endParaRPr lang="en-US" sz="3000" dirty="0"/>
          </a:p>
        </p:txBody>
      </p:sp>
      <p:graphicFrame>
        <p:nvGraphicFramePr>
          <p:cNvPr id="6" name="algorithm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572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Kind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Idea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Backtracking search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Search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Depth-first over assignments; undo on contradiction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Forward Checking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Inference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After X = v, drop v from X's 20 peers; fail early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AC-3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Inference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Keep every arc (Xi, Xj) consistent until stable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MRV + Degree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Variable order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Fewest candidates first (fail-first); ties by degree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LCV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Value order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Try the value that rules out fewest peer options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Norvig solver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Propagation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Naked + hidden single rules, then MRV search</a:t>
                      </a:r>
                      <a:endParaRPr lang="en-US" sz="14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All in src/csp_solver.py. The solver's answer is the ground truth for move checking and the AI Teacher.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</a:rPr>
              <a:t>Presenter: Sawan Rana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rule base of 9 human techniques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4" name="cell-1"/>
          <p:cNvSpPr/>
          <p:nvPr/>
        </p:nvSpPr>
        <p:spPr>
          <a:xfrm>
            <a:off x="6858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Full House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Naked Single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Hidden Single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291840" y="118872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9" name="cell-2"/>
          <p:cNvSpPr/>
          <p:nvPr/>
        </p:nvSpPr>
        <p:spPr>
          <a:xfrm>
            <a:off x="352044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0116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Naked Pair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Hidden Pair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Pointing Pair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Box/Line Reduction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126480" y="118872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4" name="cell-3"/>
          <p:cNvSpPr/>
          <p:nvPr/>
        </p:nvSpPr>
        <p:spPr>
          <a:xfrm>
            <a:off x="635508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0116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Naked Triple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X-Wing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Simplest rule first: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 harder technique is used only when the easier ones are stuck.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</a:rPr>
              <a:t>Presenter: Sunil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UI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Grid, hint ladder, chat panel (static/)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2880360" y="1280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01752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server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25 REST endpoints (api/app.py)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5303520" y="12801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40680" y="1389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modules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AI Teacher · Hint Ladder · Move Checker · What-If · Puzzle Generator · Lessons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5303520" y="310896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40680" y="32186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566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9 human techniques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7086600" y="310896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23760" y="32186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CSP engine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566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</a:rPr>
              <a:t>src/: FC, AC-3, MRV, LCV, Norvig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2880360" y="31089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017520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API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Optional. Explains only, never decides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77440" y="1828800"/>
            <a:ext cx="502920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0600" y="1828800"/>
            <a:ext cx="502920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99048" y="2377440"/>
            <a:ext cx="914" cy="7315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82128" y="2377440"/>
            <a:ext cx="914" cy="7315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3840480" y="2377440"/>
            <a:ext cx="1737360" cy="731520"/>
          </a:xfrm>
          <a:prstGeom prst="line">
            <a:avLst/>
          </a:prstGeom>
          <a:noFill/>
          <a:ln w="22225">
            <a:solidFill>
              <a:srgbClr val="7C3AED"/>
            </a:solidFill>
            <a:prstDash val="dash"/>
            <a:tailEnd type="triangle"/>
          </a:ln>
        </p:spPr>
      </p:sp>
      <p:sp>
        <p:nvSpPr>
          <p:cNvPr id="26" name="card"/>
          <p:cNvSpPr/>
          <p:nvPr/>
        </p:nvSpPr>
        <p:spPr>
          <a:xfrm>
            <a:off x="457200" y="31089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94360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Puzzle bank and generated pool (data/)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</a:rPr>
              <a:t>Presenter: Sathwik Teja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 AI Teacher works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4" name="cell-1"/>
          <p:cNvSpPr/>
          <p:nvPr/>
        </p:nvSpPr>
        <p:spPr>
          <a:xfrm>
            <a:off x="64008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Detect intent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Classify the message: hint, reveal, cell, technique, AI concept, or mistake.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6898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9" name="cell-2"/>
          <p:cNvSpPr/>
          <p:nvPr/>
        </p:nvSpPr>
        <p:spPr>
          <a:xfrm>
            <a:off x="345186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4622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Ground in the CSP engine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Compute candidates, mistakes, the next deduction chain and the unique solution.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8076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4" name="cell-3"/>
          <p:cNvSpPr/>
          <p:nvPr/>
        </p:nvSpPr>
        <p:spPr>
          <a:xfrm>
            <a:off x="626364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Gate information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The answer digit is withheld unless the learner explicitly asks for it.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9" name="cell-4"/>
          <p:cNvSpPr/>
          <p:nvPr/>
        </p:nvSpPr>
        <p:spPr>
          <a:xfrm>
            <a:off x="640080" y="3063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Explain with the LLM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An OpenAI-compatible model phrases the verified facts as a short lesson.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326898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24" name="cell-5"/>
          <p:cNvSpPr/>
          <p:nvPr/>
        </p:nvSpPr>
        <p:spPr>
          <a:xfrm>
            <a:off x="3451860" y="3063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18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4622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Verify every claim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186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Each "cell = digit" in the reply is checked against the solver's solution.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08076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29" name="cell-6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Fall back safely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No key, a timeout, or a false claim: the engine answers by itself.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</a:rPr>
              <a:t>Presenter: Sathwik Teja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built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4" name="cell-H"/>
          <p:cNvSpPr/>
          <p:nvPr/>
        </p:nvSpPr>
        <p:spPr>
          <a:xfrm>
            <a:off x="685800" y="14173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Hint ladder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Nudge on where to look, then the technique, then the full reveal with a walkthrough.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709160" y="118872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9" name="cell-M"/>
          <p:cNvSpPr/>
          <p:nvPr/>
        </p:nvSpPr>
        <p:spPr>
          <a:xfrm>
            <a:off x="4937760" y="14173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checker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965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Case A: rule conflict. Case B: legal but leads to a dead end. Case C: correct, with "why it works".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4" name="cell-W"/>
          <p:cNvSpPr/>
          <p:nvPr/>
        </p:nvSpPr>
        <p:spPr>
          <a:xfrm>
            <a:off x="685800" y="31546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sandbox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703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Runs propagation on a cloned board and shows the cascade, or the contradiction it hits.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709160" y="29260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9" name="cell-G"/>
          <p:cNvSpPr/>
          <p:nvPr/>
        </p:nvSpPr>
        <p:spPr>
          <a:xfrm>
            <a:off x="4937760" y="31546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Graded puzzle generator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3703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Removes clues while the technique engine can still solve it: a unique solution and a known difficulty.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Presenter: Rishikesh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Testing and results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automated tests passing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solver, rules, API, AI Teacher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29184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9184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human techniques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Full House to X-Wing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612648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2648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REST endpoints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FastAPI backend</a:t>
            </a:r>
            <a:endParaRPr lang="en-US" sz="1200" dirty="0"/>
          </a:p>
        </p:txBody>
      </p:sp>
      <p:sp>
        <p:nvSpPr>
          <p:cNvPr id="15" name="hallucination-test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16" name="cell-!"/>
          <p:cNvSpPr/>
          <p:nvPr/>
        </p:nvSpPr>
        <p:spPr>
          <a:xfrm>
            <a:off x="731520" y="333756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test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6118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We feed the AI Teacher a fake LLM that answers with a wrong digit for A3. The verifier catches the false claim, rejects the reply, and the CSP engine answers instead. A second test proves the answer is never sent to the LLM for a plain hint.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</a:rPr>
              <a:t>Presenter: Sunil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Live demo plan</a:t>
            </a:r>
            <a:endParaRPr lang="en-US" sz="3000" dirty="0"/>
          </a:p>
        </p:txBody>
      </p:sp>
      <p:sp>
        <p:nvSpPr>
          <p:cNvPr id="3" name="cell-1"/>
          <p:cNvSpPr/>
          <p:nvPr/>
        </p:nvSpPr>
        <p:spPr>
          <a:xfrm>
            <a:off x="457200" y="11887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Pick a level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or take the skill check</a:t>
            </a:r>
            <a:endParaRPr lang="en-US" sz="1300" dirty="0"/>
          </a:p>
        </p:txBody>
      </p:sp>
      <p:sp>
        <p:nvSpPr>
          <p:cNvPr id="7" name="cell-2"/>
          <p:cNvSpPr/>
          <p:nvPr/>
        </p:nvSpPr>
        <p:spPr>
          <a:xfrm>
            <a:off x="457200" y="20391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Ask for a hint three times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nudge, technique, reveal</a:t>
            </a:r>
            <a:endParaRPr lang="en-US" sz="1300" dirty="0"/>
          </a:p>
        </p:txBody>
      </p:sp>
      <p:sp>
        <p:nvSpPr>
          <p:cNvPr id="11" name="cell-3"/>
          <p:cNvSpPr/>
          <p:nvPr/>
        </p:nvSpPr>
        <p:spPr>
          <a:xfrm>
            <a:off x="457200" y="288950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89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07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Place a clashing digit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Case A rule conflict</a:t>
            </a:r>
            <a:endParaRPr lang="en-US" sz="1300" dirty="0"/>
          </a:p>
        </p:txBody>
      </p:sp>
      <p:sp>
        <p:nvSpPr>
          <p:cNvPr id="15" name="cell-4"/>
          <p:cNvSpPr/>
          <p:nvPr/>
        </p:nvSpPr>
        <p:spPr>
          <a:xfrm>
            <a:off x="457200" y="373989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9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581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Place a legal but wrong digit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050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Case B gentle dead end</a:t>
            </a:r>
            <a:endParaRPr lang="en-US" sz="1300" dirty="0"/>
          </a:p>
        </p:txBody>
      </p:sp>
      <p:sp>
        <p:nvSpPr>
          <p:cNvPr id="19" name="cell-5"/>
          <p:cNvSpPr/>
          <p:nvPr/>
        </p:nvSpPr>
        <p:spPr>
          <a:xfrm>
            <a:off x="4709160" y="11887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1188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Run What-If on a bad value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cascade ends in a contradiction</a:t>
            </a:r>
            <a:endParaRPr lang="en-US" sz="1300" dirty="0"/>
          </a:p>
        </p:txBody>
      </p:sp>
      <p:sp>
        <p:nvSpPr>
          <p:cNvPr id="23" name="cell-6"/>
          <p:cNvSpPr/>
          <p:nvPr/>
        </p:nvSpPr>
        <p:spPr>
          <a:xfrm>
            <a:off x="4709160" y="20391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40680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Ask the AI Teacher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"what can D7 be?", "how do you work?"</a:t>
            </a:r>
            <a:endParaRPr lang="en-US" sz="1300" dirty="0"/>
          </a:p>
        </p:txBody>
      </p:sp>
      <p:sp>
        <p:nvSpPr>
          <p:cNvPr id="27" name="cell-7"/>
          <p:cNvSpPr/>
          <p:nvPr/>
        </p:nvSpPr>
        <p:spPr>
          <a:xfrm>
            <a:off x="4709160" y="288950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2889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440680" y="2907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Generate an advanced puzzle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graded by required technique</a:t>
            </a:r>
            <a:endParaRPr lang="en-US" sz="1300" dirty="0"/>
          </a:p>
        </p:txBody>
      </p:sp>
      <p:sp>
        <p:nvSpPr>
          <p:cNvPr id="31" name="cell-8"/>
          <p:cNvSpPr/>
          <p:nvPr/>
        </p:nvSpPr>
        <p:spPr>
          <a:xfrm>
            <a:off x="4709160" y="373989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3739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440680" y="37581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Press Solve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4050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Norvig CSP solver finishes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Presenter: Rishikesh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and future work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4" name="cell-L"/>
          <p:cNvSpPr/>
          <p:nvPr/>
        </p:nvSpPr>
        <p:spPr>
          <a:xfrm>
            <a:off x="6858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No chain techniques yet (e.g. Swordfish), so the hardest puzzles need What-If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Verifier checks placement claims, not every candidate claim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Intent detection is keyword-based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One shared in-memory board (single user)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19050" dir="5400000">
              <a:srgbClr val="0F172A">
                <a:alpha val="12000"/>
              </a:srgbClr>
            </a:outerShdw>
          </a:effectLst>
        </p:spPr>
      </p:sp>
      <p:sp>
        <p:nvSpPr>
          <p:cNvPr id="9" name="cell-N"/>
          <p:cNvSpPr/>
          <p:nvPr/>
        </p:nvSpPr>
        <p:spPr>
          <a:xfrm>
            <a:off x="493776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Add chain techniques and proof trees for guesses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Learner model that adapts the level from mistakes and hint 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Benchmark FC vs AC-3 vs MRV vs Norvig on 1,000+ puzzles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Persist sessions (SQLite) for multiple users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</a:rPr>
              <a:t>Presenter: Sawan Rana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Thank you. Questions?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7D2FE"/>
                </a:solidFill>
              </a:rPr>
              <a:t>A CSP engine that reasons, explains and checks itself, with a language model only as its voice.</a:t>
            </a:r>
            <a:endParaRPr lang="en-US" sz="1700" dirty="0"/>
          </a:p>
        </p:txBody>
      </p:sp>
      <p:sp>
        <p:nvSpPr>
          <p:cNvPr id="4" name="cell-X"/>
          <p:cNvSpPr/>
          <p:nvPr/>
        </p:nvSpPr>
        <p:spPr>
          <a:xfrm>
            <a:off x="5989320" y="114300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8932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6" name="cell-D"/>
          <p:cNvSpPr/>
          <p:nvPr/>
        </p:nvSpPr>
        <p:spPr>
          <a:xfrm>
            <a:off x="6931152" y="114300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31152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8" name="cell-C"/>
          <p:cNvSpPr/>
          <p:nvPr/>
        </p:nvSpPr>
        <p:spPr>
          <a:xfrm>
            <a:off x="7872984" y="114300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72984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cell-FC"/>
          <p:cNvSpPr/>
          <p:nvPr/>
        </p:nvSpPr>
        <p:spPr>
          <a:xfrm>
            <a:off x="5989320" y="2084832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2084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</a:t>
            </a:r>
            <a:endParaRPr lang="en-US" sz="2000" dirty="0"/>
          </a:p>
        </p:txBody>
      </p:sp>
      <p:sp>
        <p:nvSpPr>
          <p:cNvPr id="12" name="cell-AC3"/>
          <p:cNvSpPr/>
          <p:nvPr/>
        </p:nvSpPr>
        <p:spPr>
          <a:xfrm>
            <a:off x="6931152" y="2084832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31152" y="2084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AC3</a:t>
            </a:r>
            <a:endParaRPr lang="en-US" sz="2000" dirty="0"/>
          </a:p>
        </p:txBody>
      </p:sp>
      <p:sp>
        <p:nvSpPr>
          <p:cNvPr id="14" name="cell-MRV"/>
          <p:cNvSpPr/>
          <p:nvPr/>
        </p:nvSpPr>
        <p:spPr>
          <a:xfrm>
            <a:off x="7872984" y="2084832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72984" y="2084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MRV</a:t>
            </a:r>
            <a:endParaRPr lang="en-US" sz="2000" dirty="0"/>
          </a:p>
        </p:txBody>
      </p:sp>
      <p:sp>
        <p:nvSpPr>
          <p:cNvPr id="16" name="cell-LCV"/>
          <p:cNvSpPr/>
          <p:nvPr/>
        </p:nvSpPr>
        <p:spPr>
          <a:xfrm>
            <a:off x="5989320" y="3026664"/>
            <a:ext cx="8686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302666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LCV</a:t>
            </a:r>
            <a:endParaRPr lang="en-US" sz="2000" dirty="0"/>
          </a:p>
        </p:txBody>
      </p:sp>
      <p:sp>
        <p:nvSpPr>
          <p:cNvPr id="18" name="cell-AI"/>
          <p:cNvSpPr/>
          <p:nvPr/>
        </p:nvSpPr>
        <p:spPr>
          <a:xfrm>
            <a:off x="6931152" y="3026664"/>
            <a:ext cx="868680" cy="868680"/>
          </a:xfrm>
          <a:prstGeom prst="roundRect">
            <a:avLst>
              <a:gd name="adj" fmla="val 631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31152" y="302666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000" dirty="0"/>
          </a:p>
        </p:txBody>
      </p:sp>
      <p:sp>
        <p:nvSpPr>
          <p:cNvPr id="20" name="cell-✓"/>
          <p:cNvSpPr/>
          <p:nvPr/>
        </p:nvSpPr>
        <p:spPr>
          <a:xfrm>
            <a:off x="7872984" y="3026664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72984" y="302666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</a:rPr>
              <a:t>Presenter: Sathwik Teja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Outline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62179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5216" y="11795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1179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116128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mbria"/>
              </a:rPr>
              <a:t>Introduction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145389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The problem and what we built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109728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0D9488"/>
                </a:solidFill>
              </a:rPr>
              <a:t>Slides 3–4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783080"/>
            <a:ext cx="8229600" cy="62179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5216" y="18653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18653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184708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mbria"/>
              </a:rPr>
              <a:t>How it 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213969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CSP model, search, human techniques, architecture, AI Teacher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78308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D97706"/>
                </a:solidFill>
              </a:rPr>
              <a:t>Slides 5–9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468880"/>
            <a:ext cx="8229600" cy="62179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85216" y="25511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25511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253288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mbria"/>
              </a:rPr>
              <a:t>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282549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Testing and a live 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246888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7C3AED"/>
                </a:solidFill>
              </a:rPr>
              <a:t>Slides 10–11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154680"/>
            <a:ext cx="8229600" cy="62179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85216" y="32369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" y="32369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21868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mbria"/>
              </a:rPr>
              <a:t>Team contributions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351129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Who built and presents each part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15468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</a:rPr>
              <a:t>Slide 12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3840480"/>
            <a:ext cx="8229600" cy="62179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85216" y="39227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" y="39227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390448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mbria"/>
              </a:rPr>
              <a:t>Limitations and conclusion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419709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What is missing, what we learned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384048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E11D48"/>
                </a:solidFill>
              </a:rPr>
              <a:t>Slides 13–14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</a:rPr>
              <a:t>Presenter: Sathwik Teja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Team contributions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1954530" cy="333756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2648" y="12070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12070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746504"/>
            <a:ext cx="164363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mbria"/>
              </a:rPr>
              <a:t>Sathwik Teja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2039112"/>
            <a:ext cx="16436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2024BCD0040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313432"/>
            <a:ext cx="16436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</a:rPr>
              <a:t>Lead · AI Teacher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2624328"/>
            <a:ext cx="1643634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500"/>
              </a:spcAft>
              <a:buChar char="•"/>
            </a:pPr>
            <a:r>
              <a:rPr sz="1050" b="0">
                <a:solidFill>
                  <a:srgbClr val="334155"/>
                </a:solidFill>
              </a:rPr>
              <a:t>Neuro-symbolic AI Teacher: LLM, claim verification, fallback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050">
                <a:solidFill>
                  <a:srgbClr val="334155"/>
                </a:solidFill>
              </a:rPr>
              <a:t>System architecture and FastAPI backend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050">
                <a:solidFill>
                  <a:srgbClr val="334155"/>
                </a:solidFill>
              </a:rPr>
              <a:t>Leads the Q&amp;A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4005072"/>
            <a:ext cx="16436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</a:rPr>
              <a:t>Slides 1–2, 8–9, 14–15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48890" y="1051560"/>
            <a:ext cx="1954530" cy="333756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704338" y="12070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4338" y="12070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SR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4338" y="1746504"/>
            <a:ext cx="164363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mbria"/>
              </a:rPr>
              <a:t>Sawan Rana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04338" y="2039112"/>
            <a:ext cx="16436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2024BCD0040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4338" y="2313432"/>
            <a:ext cx="16436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</a:rPr>
              <a:t>CSP search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04338" y="2624328"/>
            <a:ext cx="1643634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500"/>
              </a:spcAft>
              <a:buChar char="•"/>
            </a:pPr>
            <a:r>
              <a:rPr sz="1050" b="0">
                <a:solidFill>
                  <a:srgbClr val="334155"/>
                </a:solidFill>
              </a:rPr>
              <a:t>Sudoku as a CSP: variables, domains, constraints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050">
                <a:solidFill>
                  <a:srgbClr val="334155"/>
                </a:solidFill>
              </a:rPr>
              <a:t>Backtracking, forward checking, AC-3, MRV, LCV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050">
                <a:solidFill>
                  <a:srgbClr val="334155"/>
                </a:solidFill>
              </a:rPr>
              <a:t>Unique-solution puzzle generator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4338" y="4005072"/>
            <a:ext cx="16436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D9488"/>
                </a:solidFill>
              </a:rPr>
              <a:t>Slides 5–6, 13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40580" y="1051560"/>
            <a:ext cx="1954530" cy="333756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96028" y="12070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96028" y="12070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SU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96028" y="1746504"/>
            <a:ext cx="164363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mbria"/>
              </a:rPr>
              <a:t>Sunil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96028" y="2039112"/>
            <a:ext cx="16436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2024BCS0340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96028" y="2313432"/>
            <a:ext cx="16436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</a:rPr>
              <a:t>Techniques &amp; testing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96028" y="2624328"/>
            <a:ext cx="1643634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500"/>
              </a:spcAft>
              <a:buChar char="•"/>
            </a:pPr>
            <a:r>
              <a:rPr sz="1050" b="0">
                <a:solidFill>
                  <a:srgbClr val="334155"/>
                </a:solidFill>
              </a:rPr>
              <a:t>Rule base of 9 human techniques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050">
                <a:solidFill>
                  <a:srgbClr val="334155"/>
                </a:solidFill>
              </a:rPr>
              <a:t>Hint ladder, move checker, What-If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050">
                <a:solidFill>
                  <a:srgbClr val="334155"/>
                </a:solidFill>
              </a:rPr>
              <a:t>Test suite (48 tests)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96028" y="4005072"/>
            <a:ext cx="16436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D97706"/>
                </a:solidFill>
              </a:rPr>
              <a:t>Slides 7, 10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32270" y="1051560"/>
            <a:ext cx="1954530" cy="333756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887718" y="12070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87718" y="12070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RI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7718" y="1746504"/>
            <a:ext cx="164363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mbria"/>
              </a:rPr>
              <a:t>Rishikesh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87718" y="2039112"/>
            <a:ext cx="16436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2024BCD0076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87718" y="2313432"/>
            <a:ext cx="16436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Web UI &amp; demo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87718" y="2624328"/>
            <a:ext cx="1643634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500"/>
              </a:spcAft>
              <a:buChar char="•"/>
            </a:pPr>
            <a:r>
              <a:rPr sz="1050" b="0">
                <a:solidFill>
                  <a:srgbClr val="334155"/>
                </a:solidFill>
              </a:rPr>
              <a:t>Web interface: grid, numpad, chat panel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050">
                <a:solidFill>
                  <a:srgbClr val="334155"/>
                </a:solidFill>
              </a:rPr>
              <a:t>Lessons and skill check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050">
                <a:solidFill>
                  <a:srgbClr val="334155"/>
                </a:solidFill>
              </a:rPr>
              <a:t>Runs the live demo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7718" y="4005072"/>
            <a:ext cx="16436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</a:rPr>
              <a:t>Slides 3–4, 11–12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50799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Q&amp;A (slide 15): Sathwik leads, and each member answers questions about their own part.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</a:rPr>
              <a:t>Presenter: Rishikesh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2651760" cy="196596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9659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mbria"/>
              </a:rPr>
              <a:t>Correct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3317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Every answer is proven by the CSP engine, never guessed.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1143000"/>
            <a:ext cx="2651760" cy="196596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7472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19659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mbria"/>
              </a:rPr>
              <a:t>Explainable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3317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Every hint traces back to a constraint rule, at the learner's level.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1143000"/>
            <a:ext cx="2651760" cy="196596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19659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mbria"/>
              </a:rPr>
              <a:t>Safe with LLMs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3317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The language model only phrases the answer; the solver checks every claim.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3375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337560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</a:rPr>
              <a:t>In one line: </a:t>
            </a:r>
            <a:r>
              <a:rPr sz="1500">
                <a:solidFill>
                  <a:srgbClr val="0F172A"/>
                </a:solidFill>
              </a:rPr>
              <a:t>classical AI (a CSP) does the reasoning, and a language model only gives it a voice.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782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</a:rPr>
              <a:t>Presenter: Sathwik Teja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 and Ink">
  <a:themeElements>
    <a:clrScheme name="Grid and Ink">
      <a:dk1>
        <a:srgbClr val="0F172A"/>
      </a:dk1>
      <a:lt1>
        <a:srgbClr val="FFFFFF"/>
      </a:lt1>
      <a:dk2>
        <a:srgbClr val="334155"/>
      </a:dk2>
      <a:lt2>
        <a:srgbClr val="EEF2F7"/>
      </a:lt2>
      <a:accent1>
        <a:srgbClr val="0D9488"/>
      </a:accent1>
      <a:accent2>
        <a:srgbClr val="D97706"/>
      </a:accent2>
      <a:accent3>
        <a:srgbClr val="7C3AED"/>
      </a:accent3>
      <a:accent4>
        <a:srgbClr val="E11D48"/>
      </a:accent4>
      <a:accent5>
        <a:srgbClr val="2563EB"/>
      </a:accent5>
      <a:accent6>
        <a:srgbClr val="059669"/>
      </a:accent6>
      <a:hlink>
        <a:srgbClr val="0D9488"/>
      </a:hlink>
      <a:folHlink>
        <a:srgbClr val="7C3AED"/>
      </a:folHlink>
    </a:clrScheme>
    <a:fontScheme name="Grid and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Sudoku AI Coach</dc:title>
  <dc:subject>CSE 311 Artificial Intelligence course project</dc:subject>
  <dc:creator>PptxGenJS</dc:creator>
  <cp:lastModifiedBy>PptxGenJS</cp:lastModifiedBy>
  <cp:revision>1</cp:revision>
  <dcterms:created xsi:type="dcterms:W3CDTF">2026-10-15T05:51:50Z</dcterms:created>
  <dcterms:modified xsi:type="dcterms:W3CDTF">2026-10-15T05:51:50Z</dcterms:modified>
</cp:coreProperties>
</file>