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745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·  SEMESTER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33172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Satisfaction Techniques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Sudoku Solving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977640"/>
            <a:ext cx="9631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backtracking search against CSP heuristics and constraint propagation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Sathwik Teja   |   IIIT Kottayam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838383" y="548640"/>
            <a:ext cx="0" cy="713232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38383" y="548640"/>
            <a:ext cx="713232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17631" y="548640"/>
            <a:ext cx="0" cy="713232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38383" y="627888"/>
            <a:ext cx="71323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96879" y="548640"/>
            <a:ext cx="0" cy="713232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38383" y="707136"/>
            <a:ext cx="71323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6127" y="548640"/>
            <a:ext cx="0" cy="713232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38383" y="786384"/>
            <a:ext cx="713232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55375" y="548640"/>
            <a:ext cx="0" cy="713232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38383" y="865632"/>
            <a:ext cx="71323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34623" y="548640"/>
            <a:ext cx="0" cy="713232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38383" y="944880"/>
            <a:ext cx="71323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13871" y="548640"/>
            <a:ext cx="0" cy="713232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38383" y="1024128"/>
            <a:ext cx="713232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93119" y="548640"/>
            <a:ext cx="0" cy="713232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38383" y="1103376"/>
            <a:ext cx="71323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72367" y="548640"/>
            <a:ext cx="0" cy="713232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38383" y="1182624"/>
            <a:ext cx="71323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51615" y="548640"/>
            <a:ext cx="0" cy="713232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8383" y="1261872"/>
            <a:ext cx="713232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6172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26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9×9 grid must be filled with digits 1–9 so that no row, column, or 3×3 box repeats a value.</a:t>
            </a:r>
            <a:endParaRPr lang="en-US" sz="1700" dirty="0"/>
          </a:p>
          <a:p>
            <a:pPr algn="l" marL="342900" indent="-342900">
              <a:spcAft>
                <a:spcPts val="26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64 cells can be empty, giving a brute-force search roughly 9⁶⁴ (~10⁶¹) possible fills.</a:t>
            </a:r>
            <a:endParaRPr lang="en-US" sz="1700" dirty="0"/>
          </a:p>
          <a:p>
            <a:pPr algn="l" marL="342900" indent="-342900">
              <a:spcAft>
                <a:spcPts val="26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backtracking assigns values with no lookahead — it can descend deep into an invalid branch long before it ever detects the conflict.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9520" y="1600200"/>
            <a:ext cx="0" cy="402336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1600200"/>
            <a:ext cx="4023360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36560" y="1600200"/>
            <a:ext cx="0" cy="402336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2047240"/>
            <a:ext cx="4023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83600" y="1600200"/>
            <a:ext cx="0" cy="402336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2494280"/>
            <a:ext cx="4023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30640" y="1600200"/>
            <a:ext cx="0" cy="402336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2941320"/>
            <a:ext cx="4023360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7680" y="1600200"/>
            <a:ext cx="0" cy="402336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3388360"/>
            <a:ext cx="4023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24720" y="1600200"/>
            <a:ext cx="0" cy="402336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3835400"/>
            <a:ext cx="4023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71760" y="1600200"/>
            <a:ext cx="0" cy="402336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4282440"/>
            <a:ext cx="4023360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18800" y="1600200"/>
            <a:ext cx="0" cy="402336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4729480"/>
            <a:ext cx="4023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65840" y="1600200"/>
            <a:ext cx="0" cy="402336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5176520"/>
            <a:ext cx="4023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12880" y="1600200"/>
            <a:ext cx="0" cy="402336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5623560"/>
            <a:ext cx="4023360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0" y="160020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036560" y="160020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377680" y="160020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204724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930640" y="204724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377680" y="204724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824720" y="204724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8036560" y="249428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483600" y="249428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10718800" y="249428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7589520" y="294132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9377680" y="294132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11165840" y="294132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338836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930640" y="338836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9824720" y="338836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11165840" y="338836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383540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9377680" y="383540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11165840" y="383540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8036560" y="428244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10271760" y="428244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10718800" y="428244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8930640" y="472948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0" dirty="0"/>
          </a:p>
        </p:txBody>
      </p:sp>
      <p:sp>
        <p:nvSpPr>
          <p:cNvPr id="48" name="Text 46"/>
          <p:cNvSpPr txBox="1"/>
          <p:nvPr/>
        </p:nvSpPr>
        <p:spPr>
          <a:xfrm>
            <a:off x="9377680" y="472948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49" name="Text 47"/>
          <p:cNvSpPr txBox="1"/>
          <p:nvPr/>
        </p:nvSpPr>
        <p:spPr>
          <a:xfrm>
            <a:off x="9824720" y="472948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50" dirty="0"/>
          </a:p>
        </p:txBody>
      </p:sp>
      <p:sp>
        <p:nvSpPr>
          <p:cNvPr id="50" name="Text 48"/>
          <p:cNvSpPr txBox="1"/>
          <p:nvPr/>
        </p:nvSpPr>
        <p:spPr>
          <a:xfrm>
            <a:off x="11165840" y="472948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0" dirty="0"/>
          </a:p>
        </p:txBody>
      </p:sp>
      <p:sp>
        <p:nvSpPr>
          <p:cNvPr id="51" name="Text 49"/>
          <p:cNvSpPr txBox="1"/>
          <p:nvPr/>
        </p:nvSpPr>
        <p:spPr>
          <a:xfrm>
            <a:off x="9377680" y="517652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50" dirty="0"/>
          </a:p>
        </p:txBody>
      </p:sp>
      <p:sp>
        <p:nvSpPr>
          <p:cNvPr id="52" name="Text 50"/>
          <p:cNvSpPr txBox="1"/>
          <p:nvPr/>
        </p:nvSpPr>
        <p:spPr>
          <a:xfrm>
            <a:off x="10718800" y="517652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11165840" y="5176520"/>
            <a:ext cx="4470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50" dirty="0"/>
          </a:p>
        </p:txBody>
      </p:sp>
      <p:sp>
        <p:nvSpPr>
          <p:cNvPr id="54" name="Text 52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Sudoku Solver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Solving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formulate Sudoku as a formal Constraint Satisfaction Problem and measure how pruning, ordering, and propagation shrink the search space.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ln w="19050">
            <a:solidFill>
              <a:srgbClr val="3645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24942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checking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596896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pruning a peer's domain at assignment time cut node expansions compared to unpruned backtracking?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ln w="19050">
            <a:solidFill>
              <a:srgbClr val="3645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3467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&amp; value ordering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694176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MRV (“fail-first”) and LCV (“succeed-first”) affect search depth and runtime?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548640" cy="548640"/>
          </a:xfrm>
          <a:prstGeom prst="ellipse">
            <a:avLst/>
          </a:prstGeom>
          <a:ln w="19050">
            <a:solidFill>
              <a:srgbClr val="3645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44398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propagation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791456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Norvig's deduction rules solve a puzzle with little or no search at all?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configuration is measured the same way — runtime, node expansions, and maximum search depth.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Sudoku Solver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We're Solving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as (X, D, C) — 81 cells, digit domains {1…9}, and 27 all-different constraints over rows, columns and boxes (20 peers per cell).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4332" y="274320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1492" y="2944368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Baseline DFS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61492" y="370332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cell order, no pruning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698852" y="2743200"/>
            <a:ext cx="2926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91460" y="274320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28620" y="2944368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+ Forward Checking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128620" y="370332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value from peers' domains on assignment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865980" y="2743200"/>
            <a:ext cx="2926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58588" y="274320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95748" y="2944368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+ MRV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295748" y="370332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on the most-constrained cell first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2743200"/>
            <a:ext cx="2926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25716" y="274320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2876" y="2944368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+ LCV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462876" y="370332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least-conflicting value first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200236" y="2743200"/>
            <a:ext cx="2926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92844" y="274320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30004" y="2944368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Norvig Propagation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630004" y="370332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Deduce singles before any search begins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Sudoku Solver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benchmark on Hard-tier puzzles (25–28 clues) — same puzzles and timeout across all five configurations: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11535" cy="2743200"/>
        </p:xfrm>
        <a:graphic>
          <a:graphicData uri="http://schemas.openxmlformats.org/drawingml/2006/table">
            <a:tbl>
              <a:tblPr/>
              <a:tblGrid>
                <a:gridCol w="5029200"/>
                <a:gridCol w="2926080"/>
                <a:gridCol w="295625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Expansions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DFS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26,784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Forward Checking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15,357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MRV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LCV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Norvig Propagation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alone cuts search roughly 160× on hard puzzles — Norvig's propagation needs almost none at all.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62356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sample: 2 puzzles per difficulty tier. Full 10,000-puzzle benchmark in progress.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Sudoku Solver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[1]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709928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Every Sudoku Puzzle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084832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Norvig, P. (2006).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[2]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761488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of Sudoku Solving Algorithms: Backtracking and Heuristic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136392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Bhattarai, A., Uprety, D., Pathak, P., Shrestha, S. N., Narkarmi, S., &amp; Sigdel, S. (2025). Kathmandu University. arXiv:2507.09708.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[3]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813048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 as a SAT Problem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187952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Lynce, I., &amp; Ouaknine, J. (2005).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920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[4]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864608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A Modern Approach (4th ed.)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5239512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Russell, S., &amp; Norvig, P. (2020). Pearson.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Sudoku Solver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Constraint Satisfaction Techniques for Sudoku Solving</dc:title>
  <dc:subject>PptxGenJS Presentation</dc:subject>
  <dc:creator>PptxGenJS</dc:creator>
  <cp:lastModifiedBy>PptxGenJS</cp:lastModifiedBy>
  <cp:revision>1</cp:revision>
  <dcterms:created xsi:type="dcterms:W3CDTF">2026-09-18T03:55:33Z</dcterms:created>
  <dcterms:modified xsi:type="dcterms:W3CDTF">2026-09-18T03:55:33Z</dcterms:modified>
</cp:coreProperties>
</file>